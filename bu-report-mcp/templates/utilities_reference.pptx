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ZA" sz="1100" b="0" i="0" u="none" strike="noStrike">
                <a:solidFill>
                  <a:srgbClr val="1E293B"/>
                </a:solidFill>
                <a:latin typeface="Arial"/>
              </a:rPr>
              <a:t>Campaigns by Channel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Campaigns</c:v>
                </c:pt>
              </c:strCache>
            </c:strRef>
          </c:tx>
          <c:spPr>
            <a:solidFill>
              <a:srgbClr val="0FA3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noti</c:v>
                </c:pt>
                <c:pt idx="1">
                  <c:v>promo</c:v>
                </c:pt>
                <c:pt idx="2">
                  <c:v>ads</c:v>
                </c:pt>
                <c:pt idx="3">
                  <c:v>journey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492</c:v>
                </c:pt>
                <c:pt idx="1">
                  <c:v>245</c:v>
                </c:pt>
                <c:pt idx="2">
                  <c:v>190</c:v>
                </c:pt>
                <c:pt idx="3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52-4054-B75D-FBDE9FB18C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Top Conditions — by campaign count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Campaigns</c:v>
                </c:pt>
              </c:strCache>
            </c:strRef>
          </c:tx>
          <c:spPr>
            <a:solidFill>
              <a:srgbClr val="0FA3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user_kyc_tt23_type</c:v>
                </c:pt>
                <c:pt idx="1">
                  <c:v>user_transaction_bu_group</c:v>
                </c:pt>
                <c:pt idx="2">
                  <c:v>user_provider_network</c:v>
                </c:pt>
                <c:pt idx="3">
                  <c:v>user_created_segment</c:v>
                </c:pt>
                <c:pt idx="4">
                  <c:v>user_age_group_age</c:v>
                </c:pt>
                <c:pt idx="5">
                  <c:v>Add SĐT (Hermes)</c:v>
                </c:pt>
                <c:pt idx="6">
                  <c:v>BQ: Dã nhân Voucher</c:v>
                </c:pt>
                <c:pt idx="7">
                  <c:v>BQ: Input Agent</c:v>
                </c:pt>
                <c:pt idx="8">
                  <c:v>user_active_in_range</c:v>
                </c:pt>
                <c:pt idx="9">
                  <c:v>BQ: Segment</c:v>
                </c:pt>
                <c:pt idx="10">
                  <c:v>VTTI GROUP</c:v>
                </c:pt>
                <c:pt idx="11">
                  <c:v>user_blacklist_risk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46</c:v>
                </c:pt>
                <c:pt idx="1">
                  <c:v>67</c:v>
                </c:pt>
                <c:pt idx="2">
                  <c:v>77</c:v>
                </c:pt>
                <c:pt idx="3">
                  <c:v>95</c:v>
                </c:pt>
                <c:pt idx="4">
                  <c:v>131</c:v>
                </c:pt>
                <c:pt idx="5">
                  <c:v>137</c:v>
                </c:pt>
                <c:pt idx="6">
                  <c:v>66</c:v>
                </c:pt>
                <c:pt idx="7">
                  <c:v>214</c:v>
                </c:pt>
                <c:pt idx="8">
                  <c:v>229</c:v>
                </c:pt>
                <c:pt idx="9">
                  <c:v>365</c:v>
                </c:pt>
                <c:pt idx="10">
                  <c:v>443</c:v>
                </c:pt>
                <c:pt idx="11">
                  <c:v>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02-4986-A35C-36A923F80F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293B"/>
                </a:solidFill>
                <a:latin typeface="Arial"/>
              </a:rPr>
              <a:t>Median Size Pool by Goal (users) — promo goals excluded*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(users)</c:v>
                </c:pt>
              </c:strCache>
            </c:strRef>
          </c:tx>
          <c:spPr>
            <a:solidFill>
              <a:srgbClr val="0FA3B1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SERVICE</c:v>
                </c:pt>
                <c:pt idx="1">
                  <c:v>SURVEY</c:v>
                </c:pt>
                <c:pt idx="2">
                  <c:v>PROMOTION</c:v>
                </c:pt>
                <c:pt idx="3">
                  <c:v>IMPRESSION</c:v>
                </c:pt>
                <c:pt idx="4">
                  <c:v>TRANSACTIONS</c:v>
                </c:pt>
                <c:pt idx="5">
                  <c:v>CLICK</c:v>
                </c:pt>
                <c:pt idx="6">
                  <c:v>ADVERTISING</c:v>
                </c:pt>
                <c:pt idx="7">
                  <c:v>CONSIDERATION_CONV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332283</c:v>
                </c:pt>
                <c:pt idx="1">
                  <c:v>251008</c:v>
                </c:pt>
                <c:pt idx="2">
                  <c:v>1236615</c:v>
                </c:pt>
                <c:pt idx="3">
                  <c:v>1236615</c:v>
                </c:pt>
                <c:pt idx="4">
                  <c:v>2300000</c:v>
                </c:pt>
                <c:pt idx="5">
                  <c:v>1920337</c:v>
                </c:pt>
                <c:pt idx="6">
                  <c:v>2561082</c:v>
                </c:pt>
                <c:pt idx="7">
                  <c:v>4825442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82-40BE-8265-710DCFE214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951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9015984" cy="457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0" dirty="0">
                <a:solidFill>
                  <a:srgbClr val="0FA3B1"/>
                </a:solidFill>
              </a:rPr>
              <a:t>ANALYTICS REPORT  ·  DATA TEAM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Utilities Team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&amp; Campaign Pattern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2606040"/>
            <a:ext cx="2560320" cy="457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8DC"/>
                </a:solidFill>
              </a:rPr>
              <a:t>Period: </a:t>
            </a:r>
            <a:r>
              <a:rPr lang="en-US" sz="1100" dirty="0">
                <a:solidFill>
                  <a:srgbClr val="FFFFFF"/>
                </a:solidFill>
              </a:rPr>
              <a:t>Oct 2025 – Mar 2026</a:t>
            </a:r>
            <a:r>
              <a:rPr lang="en-US" sz="1100" dirty="0">
                <a:solidFill>
                  <a:srgbClr val="3A6A8A"/>
                </a:solidFill>
              </a:rPr>
              <a:t>     |     </a:t>
            </a:r>
            <a:r>
              <a:rPr lang="en-US" sz="1100" b="1" dirty="0">
                <a:solidFill>
                  <a:srgbClr val="A8C8DC"/>
                </a:solidFill>
              </a:rPr>
              <a:t>Source: </a:t>
            </a:r>
            <a:r>
              <a:rPr lang="en-US" sz="1100" dirty="0">
                <a:solidFill>
                  <a:srgbClr val="FFFFFF"/>
                </a:solidFill>
              </a:rPr>
              <a:t>SEGMENT_CAMPAIGN_GOAL_TRACKING  ×  DM_SEGMENT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383280"/>
            <a:ext cx="1993392" cy="1481328"/>
          </a:xfrm>
          <a:prstGeom prst="rect">
            <a:avLst/>
          </a:prstGeom>
          <a:solidFill>
            <a:srgbClr val="163248"/>
          </a:solidFill>
          <a:ln w="12700">
            <a:solidFill>
              <a:srgbClr val="2E5A7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411480" y="3383280"/>
            <a:ext cx="1993392" cy="6400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11480" y="352044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11480" y="42793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BCCC"/>
                </a:solidFill>
              </a:rPr>
              <a:t>Campaigns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87752" y="3383280"/>
            <a:ext cx="1993392" cy="1481328"/>
          </a:xfrm>
          <a:prstGeom prst="rect">
            <a:avLst/>
          </a:prstGeom>
          <a:solidFill>
            <a:srgbClr val="163248"/>
          </a:solidFill>
          <a:ln w="12700">
            <a:solidFill>
              <a:srgbClr val="2E5A7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2587752" y="3383280"/>
            <a:ext cx="1993392" cy="6400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2587752" y="352044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587752" y="42793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BCCC"/>
                </a:solidFill>
              </a:rPr>
              <a:t>Segments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64024" y="3383280"/>
            <a:ext cx="1993392" cy="1481328"/>
          </a:xfrm>
          <a:prstGeom prst="rect">
            <a:avLst/>
          </a:prstGeom>
          <a:solidFill>
            <a:srgbClr val="163248"/>
          </a:solidFill>
          <a:ln w="12700">
            <a:solidFill>
              <a:srgbClr val="2E5A7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4764024" y="3383280"/>
            <a:ext cx="1993392" cy="6400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4764024" y="352044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64024" y="42793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BCCC"/>
                </a:solidFill>
              </a:rPr>
              <a:t>Operators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0296" y="3383280"/>
            <a:ext cx="1993392" cy="1481328"/>
          </a:xfrm>
          <a:prstGeom prst="rect">
            <a:avLst/>
          </a:prstGeom>
          <a:solidFill>
            <a:srgbClr val="163248"/>
          </a:solidFill>
          <a:ln w="12700">
            <a:solidFill>
              <a:srgbClr val="2E5A7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6940296" y="3383280"/>
            <a:ext cx="1993392" cy="6400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6940296" y="352044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940296" y="42793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BCCC"/>
                </a:solidFill>
              </a:rPr>
              <a:t>Avg Cond/Seg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AGENDA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73152" cy="89611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914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Methodology &amp; Terminology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2984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Data sources, join logic, dedup, key definitions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73152" cy="89611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11480" y="1874520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32688" y="1965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Team Overview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3500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988 campaigns, channel breakdown, goal distribution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73152" cy="89611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411480" y="2926080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Condition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34015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Top conditions, CDP vs BQ, targeting depth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73152" cy="89611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11480" y="3977640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2688" y="40690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Size Pool Distribution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44531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Audience size by goal × channel, skewness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82296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4846320" y="822960"/>
            <a:ext cx="73152" cy="89611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4983480" y="822960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04688" y="914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Per-Person Tactics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04688" y="12984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 distinct operating profiles in the team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87452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4846320" y="1874520"/>
            <a:ext cx="73152" cy="89611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4983480" y="1874520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04688" y="1965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Segment Quality Issues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04688" y="23500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Zero-condition segments, reuse patterns, naming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92608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6" name="Shape 34"/>
          <p:cNvSpPr/>
          <p:nvPr/>
        </p:nvSpPr>
        <p:spPr>
          <a:xfrm>
            <a:off x="4846320" y="2926080"/>
            <a:ext cx="73152" cy="89611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4983480" y="2926080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504688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Recommendations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04688" y="34015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 actionable improvements with priority &amp; owner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01  METHODOLOGY &amp; TERMINOLOGY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2743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DATA METHODOLOGY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64008" cy="7315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84048" y="10515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0972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Data Sources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4447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SEGMENT_CAMPAIGN_GOAL_TRACKING (t1)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31,714 rows | Oct 2025–Mar 2026 | grain: campaign × segment × month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DM_SEGMENT (t2)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Daily snapshot | 1 row per segment × condition × date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856232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274320" y="1856232"/>
            <a:ext cx="64008" cy="7315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84048" y="1856232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19019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Join Logic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2130552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LEFT JOIN t1 → t2 ON segment_name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Join coverage: 95.5% (119K / 124.8K rows)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Note: created_for_campaign column có policy tag (restricted)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660904"/>
            <a:ext cx="4114800" cy="1005840"/>
          </a:xfrm>
          <a:prstGeom prst="rect">
            <a:avLst/>
          </a:prstGeom>
          <a:solidFill>
            <a:srgbClr val="FFFBEB"/>
          </a:solidFill>
          <a:ln w="1905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274320" y="2660904"/>
            <a:ext cx="64008" cy="100584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384048" y="2660904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27066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Deduplication (critical step)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2935224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DM_SEGMENT = daily snapshot → 1 segment có ~900 rows (= ~900 ngày)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Solution: MAX(date) per segment → DISTINCT condition_label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Nếu không dedup: conditions/seg bị undercount (kết quả sai &lt; 1)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465576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274320" y="3465576"/>
            <a:ext cx="64008" cy="7315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384048" y="3465576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" y="35112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Condition Label Formula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739896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CASE WHEN type_condition = 'CDP'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     THEN condition_id   -- e.g. user_blacklist_risk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     ELSE condition_name -- e.g. 'VTTI GROUP'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END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4270248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274320" y="4270248"/>
            <a:ext cx="64008" cy="7315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384048" y="4270248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A3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" y="43159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Key Derived Metrics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" y="4544568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avg_cond_per_seg: weighted avg distinct conditions per segment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camp_per_seg: campaigns / segments (segment reuse indicator)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7720" y="731520"/>
            <a:ext cx="4251960" cy="274320"/>
          </a:xfrm>
          <a:prstGeom prst="rect">
            <a:avLst/>
          </a:prstGeom>
          <a:solidFill>
            <a:srgbClr val="1C4966"/>
          </a:solidFill>
          <a:ln w="12700">
            <a:solidFill>
              <a:srgbClr val="1C49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4709160" y="7315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KEY TERMINOLOGY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1051560"/>
            <a:ext cx="4251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4709160" y="10881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4966"/>
                </a:solidFill>
              </a:rPr>
              <a:t>Segment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128930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Tập user được xây từ 1+ conditions. Có size_pool = số user thỏa điều kiện.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17720" y="1554480"/>
            <a:ext cx="4251960" cy="457200"/>
          </a:xfrm>
          <a:prstGeom prst="rect">
            <a:avLst/>
          </a:prstGeom>
          <a:solidFill>
            <a:srgbClr val="EA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4709160" y="15910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4966"/>
                </a:solidFill>
              </a:rPr>
              <a:t>Condition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179222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Tiêu chí lọc user. CDP = condition_id (behavior/demographic). BQ = tên bảng BigQuery (bulk list).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17720" y="2057400"/>
            <a:ext cx="4251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4709160" y="20939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4966"/>
                </a:solidFill>
              </a:rPr>
              <a:t>CDP Condition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9160" y="22951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Dựa trên behavior real-time từ Customer Data Platform. VD: user_active_in_range, user_blacklist_risk, user_age_group_age.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17720" y="2560320"/>
            <a:ext cx="4251960" cy="457200"/>
          </a:xfrm>
          <a:prstGeom prst="rect">
            <a:avLst/>
          </a:prstGeom>
          <a:solidFill>
            <a:srgbClr val="EA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4709160" y="2596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4966"/>
                </a:solidFill>
              </a:rPr>
              <a:t>BQ Condition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09160" y="279806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Input là bảng BigQuery tĩnh — thường là whitelist/SĐT chuẩn bị sẵn. VD: VTTI GROUP, Hermes SĐT list.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17720" y="3063240"/>
            <a:ext cx="4251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/>
          <p:nvPr/>
        </p:nvSpPr>
        <p:spPr>
          <a:xfrm>
            <a:off x="4709160" y="30998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4966"/>
                </a:solidFill>
              </a:rPr>
              <a:t>Avg Cond/Seg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09160" y="330098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Trung bình số conditions trên 1 segment (sau dedup). Đo targeting complexity. System median = 3.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17720" y="3566160"/>
            <a:ext cx="4251960" cy="457200"/>
          </a:xfrm>
          <a:prstGeom prst="rect">
            <a:avLst/>
          </a:prstGeom>
          <a:solidFill>
            <a:srgbClr val="EA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/>
          <p:nvPr/>
        </p:nvSpPr>
        <p:spPr>
          <a:xfrm>
            <a:off x="4709160" y="36027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4966"/>
                </a:solidFill>
              </a:rPr>
              <a:t>Camp/Seg Ratio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709160" y="380390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campaigns / segments. Giá trị &gt; 1 = segment được tái sử dụng. Cao hơn = hiệu quả hơn.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17720" y="4069080"/>
            <a:ext cx="4251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3" name="Text 51"/>
          <p:cNvSpPr/>
          <p:nvPr/>
        </p:nvSpPr>
        <p:spPr>
          <a:xfrm>
            <a:off x="4709160" y="41056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4966"/>
                </a:solidFill>
              </a:rPr>
              <a:t>Zero-Cond Seg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09160" y="430682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Segment không có condition nào — có thể là mass audience hoặc lỗi data pipeline.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17720" y="4572000"/>
            <a:ext cx="4251960" cy="457200"/>
          </a:xfrm>
          <a:prstGeom prst="rect">
            <a:avLst/>
          </a:prstGeom>
          <a:solidFill>
            <a:srgbClr val="EA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6" name="Text 54"/>
          <p:cNvSpPr/>
          <p:nvPr/>
        </p:nvSpPr>
        <p:spPr>
          <a:xfrm>
            <a:off x="4709160" y="46085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4966"/>
                </a:solidFill>
              </a:rPr>
              <a:t>VTTI GROUP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709160" y="48097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Bảng BQ chứa danh sách user thuộc VTTI group — base audience chính của Utilities team.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02  TEAM OVERVIEW — Channel &amp; Goal Distribution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1993392" cy="960120"/>
          </a:xfrm>
          <a:prstGeom prst="rect">
            <a:avLst/>
          </a:prstGeom>
          <a:solidFill>
            <a:srgbClr val="0D2B3E"/>
          </a:solidFill>
          <a:ln w="12700">
            <a:solidFill>
              <a:srgbClr val="2A5F7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274320" y="78638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28930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Campaigns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49961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ABB"/>
                </a:solidFill>
              </a:rPr>
              <a:t>distinct campaign_id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50592" y="749808"/>
            <a:ext cx="1993392" cy="960120"/>
          </a:xfrm>
          <a:prstGeom prst="rect">
            <a:avLst/>
          </a:prstGeom>
          <a:solidFill>
            <a:srgbClr val="0D2B3E"/>
          </a:solidFill>
          <a:ln w="12700">
            <a:solidFill>
              <a:srgbClr val="2A5F7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2450592" y="78638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50592" y="128930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Segments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50592" y="149961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ABB"/>
                </a:solidFill>
              </a:rPr>
              <a:t>distinct segment_name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26864" y="749808"/>
            <a:ext cx="1993392" cy="960120"/>
          </a:xfrm>
          <a:prstGeom prst="rect">
            <a:avLst/>
          </a:prstGeom>
          <a:solidFill>
            <a:srgbClr val="0D2B3E"/>
          </a:solidFill>
          <a:ln w="12700">
            <a:solidFill>
              <a:srgbClr val="2A5F7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626864" y="78638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26864" y="128930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26864" y="149961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ABB"/>
                </a:solidFill>
              </a:rPr>
              <a:t>created_for_campaign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03136" y="749808"/>
            <a:ext cx="1993392" cy="960120"/>
          </a:xfrm>
          <a:prstGeom prst="rect">
            <a:avLst/>
          </a:prstGeom>
          <a:solidFill>
            <a:srgbClr val="0D2B3E"/>
          </a:solidFill>
          <a:ln w="12700">
            <a:solidFill>
              <a:srgbClr val="2A5F7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803136" y="78638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03136" y="128930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Cond/Seg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03136" y="149961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ABB"/>
                </a:solidFill>
              </a:rPr>
              <a:t>system avg = 3.1</a:t>
            </a:r>
            <a:endParaRPr lang="en-US" sz="8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187452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874520"/>
          <a:ext cx="4343400" cy="2819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Channel / Goal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9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Camps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9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Segs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9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Cond/Seg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9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Zero-Cond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noti / ADVERTISING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246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120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D93025"/>
                          </a:solidFill>
                        </a:rPr>
                        <a:t>16 ⚠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promo / budget_collect_voucher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188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2.4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ads / CLICK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128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173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noti / PROMOTION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128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70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2.7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noti / SURVEY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71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44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2.4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journey / CONSIDERATION_CONV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48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2.5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</a:rPr>
                        <a:t>0 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ads / TRANSACTIONS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41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95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</a:rPr>
                        <a:t>0 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noti / SERVICE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41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promo / collect_voucher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D93025"/>
                          </a:solidFill>
                        </a:rPr>
                        <a:t>0.0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D93025"/>
                          </a:solidFill>
                        </a:rPr>
                        <a:t>4 🔴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03  CONDITION ANALYSIS — What Drives Audience Selection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49808"/>
          <a:ext cx="57607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749808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4"/>
          <p:cNvSpPr/>
          <p:nvPr/>
        </p:nvSpPr>
        <p:spPr>
          <a:xfrm>
            <a:off x="6172200" y="749808"/>
            <a:ext cx="2697480" cy="256032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6263640" y="7772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 Exclude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63640" y="105156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user_blacklist_risk: 712 camps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Top #1 — dùng ở mọi segment như tiêu chuẩn loại trừ. Không phải targeting signal thực sự.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172200" y="1801368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6172200" y="1801368"/>
            <a:ext cx="2697480" cy="256032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6263640" y="18288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Core Audience Pool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63640" y="21031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VTTI GROUP: 443 camps / 335 segs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Base audience của team — danh sách Viettel group. Đây là nền tảng filter của hầu hết segment.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72200" y="2852928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2"/>
          <p:cNvSpPr/>
          <p:nvPr/>
        </p:nvSpPr>
        <p:spPr>
          <a:xfrm>
            <a:off x="6172200" y="2852928"/>
            <a:ext cx="2697480" cy="25603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3"/>
          <p:cNvSpPr/>
          <p:nvPr/>
        </p:nvSpPr>
        <p:spPr>
          <a:xfrm>
            <a:off x="6263640" y="28803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CDP vs BQ Balance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315468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CDP: user_active_in_range, user_age_group_age, user_provider_network, user_transaction_bu_group (behavioral)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BQ: VTTI GROUP, Hermes SĐT, Agent output (static lists)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72200" y="3904488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6"/>
          <p:cNvSpPr/>
          <p:nvPr/>
        </p:nvSpPr>
        <p:spPr>
          <a:xfrm>
            <a:off x="6172200" y="3904488"/>
            <a:ext cx="269748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7"/>
          <p:cNvSpPr/>
          <p:nvPr/>
        </p:nvSpPr>
        <p:spPr>
          <a:xfrm>
            <a:off x="6263640" y="39319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Underutilized Behavioral Signals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63640" y="420624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user_provider_network (77), user_transaction_bu_group (67), user_visit_screen_name (39) — chỉ 2-3 người dùng. Tiềm năng lớn chưa khai thác.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04  SIZE POOL DISTRIBUTION — Audience Size by Goal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49808"/>
          <a:ext cx="57607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4632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* promo/budget_collect_voucher median = 11 users (skewed by SĐT micro-lists)  |  promo/budget_coin_reward median = 8.8M users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172200" y="749808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Shape 5"/>
          <p:cNvSpPr/>
          <p:nvPr/>
        </p:nvSpPr>
        <p:spPr>
          <a:xfrm>
            <a:off x="6172200" y="749808"/>
            <a:ext cx="2697480" cy="256032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6263640" y="7772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Median = 11 users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3640" y="10515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promo / budget_collect_voucher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63640" y="124358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P25=7, Median=11 nhưng Avg=1.4M → 2 pattern cùng tồn tại: micro SĐT list (vài chục người) và mass push. Thiếu standard về minimum pool size.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172200" y="1801368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0"/>
          <p:cNvSpPr/>
          <p:nvPr/>
        </p:nvSpPr>
        <p:spPr>
          <a:xfrm>
            <a:off x="6172200" y="1801368"/>
            <a:ext cx="2697480" cy="256032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/>
          <p:nvPr/>
        </p:nvSpPr>
        <p:spPr>
          <a:xfrm>
            <a:off x="6263640" y="18288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Median = 4.8M users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63640" y="210312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journey / CONSIDERATION_CONV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63640" y="229514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Lớn nhất avg (5.2M). Journey flow dành cho mid-funnel nhưng đang dùng top-of-funnel mass audience. Nên add behavioral filter.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172200" y="2852928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5"/>
          <p:cNvSpPr/>
          <p:nvPr/>
        </p:nvSpPr>
        <p:spPr>
          <a:xfrm>
            <a:off x="6172200" y="2852928"/>
            <a:ext cx="2697480" cy="25603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6"/>
          <p:cNvSpPr/>
          <p:nvPr/>
        </p:nvSpPr>
        <p:spPr>
          <a:xfrm>
            <a:off x="6263640" y="28803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Median = 251K users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63640" y="31546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noti / SURVEY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63640" y="334670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Nhỏ nhất → xác nhận đây là survey nội bộ (staff targeting). Consistent với conditions: staff_by_workplace, staff_by_department.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172200" y="3904488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3" name="Shape 20"/>
          <p:cNvSpPr/>
          <p:nvPr/>
        </p:nvSpPr>
        <p:spPr>
          <a:xfrm>
            <a:off x="6172200" y="3904488"/>
            <a:ext cx="269748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1"/>
          <p:cNvSpPr/>
          <p:nvPr/>
        </p:nvSpPr>
        <p:spPr>
          <a:xfrm>
            <a:off x="6263640" y="39319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Median = 8.8M users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63640" y="42062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promo / budget_coin_reward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63640" y="439826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P25=3.3M — lớn bất thường cho promo channel. Cần xem xét lại: coin reward campaigns có cần mass targeting không?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05  PER-PERSON TACTICS — 3 Operating Profiles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2834640" cy="56692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1947672" y="804672"/>
            <a:ext cx="1024128" cy="201168"/>
          </a:xfrm>
          <a:prstGeom prst="rect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947672" y="8046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BEST PRACTICE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47472" y="78638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PROFILE A — Full-Funnel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0515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8EEF5"/>
                </a:solidFill>
              </a:rPr>
              <a:t>linh.duong6  ·  phuc.nguyen20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1426464"/>
            <a:ext cx="2651760" cy="347472"/>
          </a:xfrm>
          <a:prstGeom prst="rect">
            <a:avLst/>
          </a:prstGeom>
          <a:solidFill>
            <a:srgbClr val="EAF4F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93192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Campaigns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</a:rPr>
              <a:t>192 / 175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1837944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393192" y="1874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Avg Cond/Seg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27632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</a:rPr>
              <a:t>3.6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249424"/>
            <a:ext cx="2651760" cy="347472"/>
          </a:xfrm>
          <a:prstGeom prst="rect">
            <a:avLst/>
          </a:prstGeom>
          <a:solidFill>
            <a:srgbClr val="EAF4F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93192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CDP / BQ mix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27632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</a:rPr>
              <a:t>1.8/1.7  ·  2.2/1.4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2660904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93192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Camp/Seg ratio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27632" y="2697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</a:rPr>
              <a:t>1.3 – 1.4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108960"/>
            <a:ext cx="26517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347472" y="3182112"/>
            <a:ext cx="26517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Dùng đủ 4 channels, balanced CDP + BQ. Phân vai channel theo funnel: promo (acquisition) → journey (nurturing) → ads (awareness) → noti (retention). Segment phức tạp nhất trong team.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18688" y="74980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3218688" y="749808"/>
            <a:ext cx="2834640" cy="566928"/>
          </a:xfrm>
          <a:prstGeom prst="rect">
            <a:avLst/>
          </a:prstGeom>
          <a:solidFill>
            <a:srgbClr val="1C4966"/>
          </a:solidFill>
          <a:ln w="12700">
            <a:solidFill>
              <a:srgbClr val="1C49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4910328" y="804672"/>
            <a:ext cx="1024128" cy="201168"/>
          </a:xfrm>
          <a:prstGeom prst="rect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4910328" y="8046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 EFFICIENCY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310128" y="78638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PROFILE B — Specialist Reuser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10128" y="10515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8EEF5"/>
                </a:solidFill>
              </a:rPr>
              <a:t>thuy.nguyen19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10128" y="1426464"/>
            <a:ext cx="2651760" cy="347472"/>
          </a:xfrm>
          <a:prstGeom prst="rect">
            <a:avLst/>
          </a:prstGeom>
          <a:solidFill>
            <a:srgbClr val="EAF4F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3355848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Campaigns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90288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</a:rPr>
              <a:t>160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10128" y="1837944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3355848" y="1874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Avg Cond/Seg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90288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</a:rPr>
              <a:t>3.0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10128" y="2249424"/>
            <a:ext cx="2651760" cy="347472"/>
          </a:xfrm>
          <a:prstGeom prst="rect">
            <a:avLst/>
          </a:prstGeom>
          <a:solidFill>
            <a:srgbClr val="EAF4F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3355848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CDP / BQ mix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90288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</a:rPr>
              <a:t>1.5 / 1.5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10128" y="2660904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3355848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Camp/Seg ratio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90288" y="2697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</a:rPr>
              <a:t>2.8  ←  highest in team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10128" y="3108960"/>
            <a:ext cx="26517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3310128" y="3182112"/>
            <a:ext cx="26517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Segment reuse cao nhất team. Chuyên ePass/SERVICE product line. Tạo ít segment mới nhưng tận dụng tối đa qua nhiều campaigns. Pattern này cần được nhân rộng.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81344" y="74980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6" name="Shape 44"/>
          <p:cNvSpPr/>
          <p:nvPr/>
        </p:nvSpPr>
        <p:spPr>
          <a:xfrm>
            <a:off x="6181344" y="749808"/>
            <a:ext cx="2834640" cy="56692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Shape 45"/>
          <p:cNvSpPr/>
          <p:nvPr/>
        </p:nvSpPr>
        <p:spPr>
          <a:xfrm>
            <a:off x="7872984" y="804672"/>
            <a:ext cx="1024128" cy="201168"/>
          </a:xfrm>
          <a:prstGeom prst="rect">
            <a:avLst/>
          </a:prstGeom>
          <a:solidFill>
            <a:srgbClr val="FFFFFF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Text 46"/>
          <p:cNvSpPr/>
          <p:nvPr/>
        </p:nvSpPr>
        <p:spPr>
          <a:xfrm>
            <a:off x="7872984" y="8046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2B3E"/>
                </a:solidFill>
              </a:rPr>
              <a:t>IMPROVEMENT AREA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272784" y="78638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PROFILE C — Low Complexity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72784" y="10515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8EEF5"/>
                </a:solidFill>
              </a:rPr>
              <a:t>van.vo2  ·  hieu.le11  ·  trang.pham8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72784" y="1426464"/>
            <a:ext cx="2651760" cy="347472"/>
          </a:xfrm>
          <a:prstGeom prst="rect">
            <a:avLst/>
          </a:prstGeom>
          <a:solidFill>
            <a:srgbClr val="EAF4F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Text 50"/>
          <p:cNvSpPr/>
          <p:nvPr/>
        </p:nvSpPr>
        <p:spPr>
          <a:xfrm>
            <a:off x="6318504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Campaigns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552944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</a:rPr>
              <a:t>59 / 146 / 107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72784" y="1837944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5" name="Text 53"/>
          <p:cNvSpPr/>
          <p:nvPr/>
        </p:nvSpPr>
        <p:spPr>
          <a:xfrm>
            <a:off x="6318504" y="1874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Avg Cond/Seg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52944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</a:rPr>
              <a:t>1.1 / 1.9 / 2.8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72784" y="2249424"/>
            <a:ext cx="2651760" cy="347472"/>
          </a:xfrm>
          <a:prstGeom prst="rect">
            <a:avLst/>
          </a:prstGeom>
          <a:solidFill>
            <a:srgbClr val="EAF4F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/>
          <p:nvPr/>
        </p:nvSpPr>
        <p:spPr>
          <a:xfrm>
            <a:off x="6318504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CDP / BQ mix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552944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</a:rPr>
              <a:t>0.5/0.5  ·  1.1/1.0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72784" y="2660904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1" name="Text 59"/>
          <p:cNvSpPr/>
          <p:nvPr/>
        </p:nvSpPr>
        <p:spPr>
          <a:xfrm>
            <a:off x="6318504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Camp/Seg ratio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552944" y="2697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</a:rPr>
              <a:t>1.1 – 1.2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72784" y="3108960"/>
            <a:ext cx="26517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4" name="Text 62"/>
          <p:cNvSpPr/>
          <p:nvPr/>
        </p:nvSpPr>
        <p:spPr>
          <a:xfrm>
            <a:off x="6272784" y="3182112"/>
            <a:ext cx="26517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Conditions thưa, segment đơn giản — gần mass targeting. van.vo2 thấp nhất team (1.1 cond/seg, CDP chỉ 0.5). trang.pham8 thiên SURVEY+noti. Cả 3 có room to improve targeting depth.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06  SEGMENT QUALITY ISSUES — Reuse Patterns &amp; Data Gaps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FA3B1"/>
                </a:solidFill>
              </a:rPr>
              <a:t>TOP REUSED SEGMENTS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60704"/>
          <a:ext cx="4800600" cy="3319272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Segment Name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9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Camps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9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Channels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9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Goals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250203_vtti_data_wl_team_added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93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D93025"/>
                          </a:solidFill>
                        </a:rPr>
                        <a:t>2508_vtti_WL_test_viettel  ⚠ test!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2508_wl_mds_promotion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telco_for_testing_widget_voucher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260107_PKD_ePass_chuaLK_vf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251114_PKD_ePass_chuaLK_vf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telco_wl_ka_growth_v2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251017_PKD_ePass_Lifetime_v3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251110_VTTI_DVCQG_comm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251014_vtti_data_churn_journey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6817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93025"/>
                </a:solidFill>
              </a:rPr>
              <a:t>⚠  '2508_vtti_WL_test_viettel' — tên có 'test' nhưng đang chạy 90 production campaigns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440680" y="749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FA3B1"/>
                </a:solidFill>
              </a:rPr>
              <a:t>QUALITY ISSUES IDENTIFIED</a:t>
            </a:r>
            <a:endParaRPr lang="en-US" sz="950" dirty="0"/>
          </a:p>
        </p:txBody>
      </p:sp>
      <p:sp>
        <p:nvSpPr>
          <p:cNvPr id="6" name="Shape 6"/>
          <p:cNvSpPr/>
          <p:nvPr/>
        </p:nvSpPr>
        <p:spPr>
          <a:xfrm>
            <a:off x="5440680" y="1060704"/>
            <a:ext cx="3429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5440680" y="1060704"/>
            <a:ext cx="64008" cy="841248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5577840" y="11247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Zero-Condition Segments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577840" y="13624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promo/collect_voucher: 4/4 (100%)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noti/ADVERTISING: 16/120 (13%)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Mass blast hoàn toàn, không có criteria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440680" y="1993392"/>
            <a:ext cx="3429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1"/>
          <p:cNvSpPr/>
          <p:nvPr/>
        </p:nvSpPr>
        <p:spPr>
          <a:xfrm>
            <a:off x="5440680" y="1993392"/>
            <a:ext cx="64008" cy="84124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5577840" y="2057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Low Segment Reuse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2951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9/13 người có camp/seg ratio = 1.0–1.4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 segment gần như chỉ dùng 1 lần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Tốn công tạo segment tương tự nhiều lần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40680" y="2926080"/>
            <a:ext cx="3429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5"/>
          <p:cNvSpPr/>
          <p:nvPr/>
        </p:nvSpPr>
        <p:spPr>
          <a:xfrm>
            <a:off x="5440680" y="2926080"/>
            <a:ext cx="64008" cy="8412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6"/>
          <p:cNvSpPr/>
          <p:nvPr/>
        </p:nvSpPr>
        <p:spPr>
          <a:xfrm>
            <a:off x="5577840" y="2990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Naming Inconsistency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577840" y="32278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Mix: vtti_*, PKD_ePass*, DVCQG, BILLPAY_*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Không phân biệt product line vs audience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Khó search &amp; reuse segment cũ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40680" y="3858768"/>
            <a:ext cx="3429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Shape 19"/>
          <p:cNvSpPr/>
          <p:nvPr/>
        </p:nvSpPr>
        <p:spPr>
          <a:xfrm>
            <a:off x="5440680" y="3858768"/>
            <a:ext cx="64008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0"/>
          <p:cNvSpPr/>
          <p:nvPr/>
        </p:nvSpPr>
        <p:spPr>
          <a:xfrm>
            <a:off x="5577840" y="39227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Reuse Gap: 2.8 vs 1.1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57784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thuy.nguyen19: 2.8 camp/seg (benchmark)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van.vo2: 1.2  ·  hieu.le11: 1.1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Potential rõ để nhân rộng pattern tốt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07  RECOMMENDATIONS — 6 Actionable Improvements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224528" cy="292608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65760" y="78638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R1   Fix zero-condition segments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03320" y="7955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Enforce minimum: user_blacklist_risk + 1 inclusion condition trước khi publish segment bất kỳ.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700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Owner: hieu.le11, van.vo2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0" y="170078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3025"/>
                </a:solidFill>
              </a:rPr>
              <a:t>Impact: Giảm wasted reach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4224528" cy="292608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65760" y="223113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R2   Standardize segment naming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22402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254203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Format: {yymmdd}_{PRODUCT}_{audience_intent}_{v}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Product codes: VTTI / EPASS / DVCQG / BILLPAY / METRO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145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Owner: All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0" y="314553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3025"/>
                </a:solidFill>
              </a:rPr>
              <a:t>Impact: Tăng discoverability &amp; reuse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639312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274320" y="3639312"/>
            <a:ext cx="4224528" cy="29260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65760" y="367588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R3   Scale segment reuse (benchmark: thuy.nguyen19)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36850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3986784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Trước khi tạo segment mới, search segment tương tự. PKD_ePass được tạo lại monthly với structure gần giống nhau.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5902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Owner: hieu.le11, anh.luu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0" y="45902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7B731"/>
                </a:solidFill>
              </a:rPr>
              <a:t>Impact: Giảm duplicated effort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749808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4709160" y="749808"/>
            <a:ext cx="4224528" cy="29260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4800600" y="78638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R4   Tăng CDP behavioral depth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38160" y="7955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00600" y="1097280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Bổ sung user_transaction_bu_group, user_visit_screen_name cho van.vo2 &amp; hieu.le11 — CDP cond hiện chỉ 0.5–1.1.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1700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Owner: van.vo2, hieu.le11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178040" y="170078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7B731"/>
                </a:solidFill>
              </a:rPr>
              <a:t>Impact: Tăng targeting precision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2194560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4709160" y="2194560"/>
            <a:ext cx="4224528" cy="292608"/>
          </a:xfrm>
          <a:prstGeom prst="rect">
            <a:avLst/>
          </a:prstGeom>
          <a:solidFill>
            <a:srgbClr val="1C4966"/>
          </a:solidFill>
          <a:ln w="12700">
            <a:solidFill>
              <a:srgbClr val="1C49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4800600" y="223113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R5   Narrow pool: journey/CONSIDERATION_CONV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38160" y="22402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00600" y="254203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Thêm user_visit_screen_name (ePass/VETC screen) hoặc user_active_in_range 30d. Thu hẹp từ 4.8M → mid-funnel.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3145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Owner: thuy.nguyen19, anh.luu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178040" y="314553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4966"/>
                </a:solidFill>
              </a:rPr>
              <a:t>Impact: Tăng conversion rate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3639312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1" name="Shape 39"/>
          <p:cNvSpPr/>
          <p:nvPr/>
        </p:nvSpPr>
        <p:spPr>
          <a:xfrm>
            <a:off x="4709160" y="3639312"/>
            <a:ext cx="4224528" cy="29260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4800600" y="367588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R6   Document VTTI GROUP staleness policy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38160" y="36850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LOW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00600" y="3986784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VTTI GROUP là base của 335 segments. Cần rõ update frequency &amp; staleness threshold. Tránh reuse qua nhiều tháng.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00600" y="45902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Owner: All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178040" y="45902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A3B1"/>
                </a:solidFill>
              </a:rPr>
              <a:t>Impact: Data quality &amp; freshness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28016" y="0"/>
            <a:ext cx="9015984" cy="457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FA3B1"/>
                </a:solidFill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Utilities Team — Segment Analysis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2011680" cy="457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384048" cy="384048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2EE"/>
                </a:solidFill>
              </a:rPr>
              <a:t>promo/budget_collect_voucher có 2 behavior cực đoan: micro SĐT list (median 11 users) và mass push — thiếu standard về minimum pool size.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468880"/>
            <a:ext cx="384048" cy="38404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1148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51460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2EE"/>
                </a:solidFill>
              </a:rPr>
              <a:t>VTTI GROUP là core audience base của 335 segments — cần document update frequency &amp; staleness policy rõ ràng.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384048" cy="38404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114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15468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2EE"/>
                </a:solidFill>
              </a:rPr>
              <a:t>thuy.nguyen19 là benchmark tốt nhất về segment reuse (2.8 camp/seg). Pattern này cần được nhân rộng cho cả team.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749040"/>
            <a:ext cx="384048" cy="384048"/>
          </a:xfrm>
          <a:prstGeom prst="rect">
            <a:avLst/>
          </a:prstGeom>
          <a:solidFill>
            <a:srgbClr val="1C4966"/>
          </a:solidFill>
          <a:ln w="12700">
            <a:solidFill>
              <a:srgbClr val="1C49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4114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79476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2EE"/>
                </a:solidFill>
              </a:rPr>
              <a:t>journey/CONSIDERATION_CONV đang dùng top-of-funnel audience (median 4.8M) — cần mid-funnel filter để tăng conversion rate.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389120"/>
            <a:ext cx="384048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41148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43484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2EE"/>
                </a:solidFill>
              </a:rPr>
              <a:t>van.vo2 &amp; hieu.le11 còn room lớn để improve: thêm CDP behavioral conditions (hiện avg CDP chỉ 0.5–1.1 cond/seg).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1988</Words>
  <Application>Microsoft Office PowerPoint</Application>
  <PresentationFormat>On-screen Show (16:9)</PresentationFormat>
  <Paragraphs>327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Utilities Team — Segment &amp; Campaign Analysis</dc:title>
  <dc:subject>PptxGenJS Presentation</dc:subject>
  <dc:creator>PptxGenJS</dc:creator>
  <cp:lastModifiedBy>Tommy Nguyễn</cp:lastModifiedBy>
  <cp:revision>2</cp:revision>
  <dcterms:created xsi:type="dcterms:W3CDTF">2026-03-27T12:27:48Z</dcterms:created>
  <dcterms:modified xsi:type="dcterms:W3CDTF">2026-03-28T04:47:25Z</dcterms:modified>
</cp:coreProperties>
</file>