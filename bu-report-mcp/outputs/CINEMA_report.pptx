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Sheet1!$A$2:$A$5</c:f>
              <c:strCache>
                <c:ptCount val="4"/>
                <c:pt idx="0">
                  <c:v>notification</c:v>
                </c:pt>
                <c:pt idx="1">
                  <c:v>journey</c:v>
                </c:pt>
                <c:pt idx="2">
                  <c:v>promotion</c:v>
                </c:pt>
                <c:pt idx="3">
                  <c:v>advertising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28</c:v>
                </c:pt>
                <c:pt idx="2">
                  <c:v>21</c:v>
                </c:pt>
                <c:pt idx="3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Sheet1!$A$2:$A$6</c:f>
              <c:strCache>
                <c:ptCount val="5"/>
                <c:pt idx="0">
                  <c:v>user has no transaction in 30 </c:v>
                </c:pt>
                <c:pt idx="1">
                  <c:v>user joined loyalty program</c:v>
                </c:pt>
                <c:pt idx="2">
                  <c:v>user purchased cinema ticket</c:v>
                </c:pt>
                <c:pt idx="3">
                  <c:v>user create a transaction</c:v>
                </c:pt>
                <c:pt idx="4">
                  <c:v>user searched for cinema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9015984" cy="457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FA3B1"/>
                </a:solidFill>
              </a:rPr>
              <a:t>ANALYTICS REPORT  ·  DATA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Georgia"/>
              </a:rPr>
              <a:t>Cinema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A8C8DC"/>
                </a:solidFill>
              </a:rPr>
              <a:t>Segment &amp; Campaign Pattern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606040"/>
            <a:ext cx="2560320" cy="457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BCCC"/>
                </a:solidFill>
              </a:rPr>
              <a:t>Period: </a:t>
            </a:r>
            <a:r>
              <a:rPr sz="1100">
                <a:solidFill>
                  <a:srgbClr val="FFFFFF"/>
                </a:solidFill>
              </a:rPr>
              <a:t>2025-11-01 to 2026-03-01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4024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4024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Operators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0296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0296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5.07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Avg Cond/Seg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9144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Methodology &amp;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Data sources, join logic, dedup, key definitions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2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7452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7452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659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Team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35000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20 campaigns, channel breakdown, goal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01752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Condition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015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Top conditions, CDP vs BQ, targeting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4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7764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690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Size Pool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4531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Audience size by goal × channel, skewness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82296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0" y="82296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82296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9144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Per-Person Tactics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129844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Operating profiles &amp; complexity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87452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187452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187452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19659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Segment Quality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235000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Zero-condition segments, reuse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2608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292608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292608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01752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8" y="34015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Actionable improvements with priority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01  METHODOLOGY &amp; TERMINOLOGY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3931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2B3E"/>
                </a:solidFill>
              </a:rPr>
              <a:t>DATA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097280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258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Local CSV export for BU segmentation usage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56232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856232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901952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Join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1305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V1 uses a single prepared CSV; no multi-table join is applied yet.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60904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60904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706624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Dedup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293522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Distinct campaigns, segments, operators, and conditions are computed from the CSV input.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65576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65576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511296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Condition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373989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condition_name is used directly after trimming blanks.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7024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70248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4315968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Key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45445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campaigns, segments, operators, avg conditions per segment, top conditions, zero-condition segments, reuse ratio.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731520"/>
            <a:ext cx="425196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768096"/>
            <a:ext cx="4069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2B3E"/>
                </a:solidFill>
              </a:rPr>
              <a:t>KEY TERMINOLOGY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1051560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108813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28930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target user group used in one or more campaigns.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581912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618488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Condition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1819656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filtering rule used to build a segment.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112264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CDP Condition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350008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behavioral or profile-based condition.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642616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679192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BQ Condition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2880360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static list or table-based audience condition.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172968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209544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Avg Cond/Seg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3410712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average number of distinct conditions per segment.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703320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73989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Camp/Seg 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394106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campaigns divided by segments; higher means more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02  TEAM OVERVIEW — Channel &amp; Goal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Campaigns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2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26864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Operators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03136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5.07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Avg Cond/Seg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74320" y="1874519"/>
          <a:ext cx="40233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ectangle 21"/>
          <p:cNvSpPr/>
          <p:nvPr/>
        </p:nvSpPr>
        <p:spPr>
          <a:xfrm>
            <a:off x="4526280" y="1874519"/>
            <a:ext cx="228600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91109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Channel / 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1874519"/>
            <a:ext cx="77724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9110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Camps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874519"/>
            <a:ext cx="77724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9110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50292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91109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214883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18541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upsell snack combo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14883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18541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14883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218541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214883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18541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2423159"/>
            <a:ext cx="228600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45973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increase ticket sales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242315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245973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42315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245973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2423159"/>
            <a:ext cx="50292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45973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269747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273405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increase impressions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12280" y="269747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273405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269747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273405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269747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73405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2971799"/>
            <a:ext cx="228600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300837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reactivate users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80" y="297179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300837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297179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300837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8366760" y="2971799"/>
            <a:ext cx="50292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300837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526280" y="324611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0" y="328269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increase clicks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12280" y="324611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32826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324611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32826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8366760" y="324611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328269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03  CONDITION ANALYSIS — What Drives Audience Selection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749808"/>
          <a:ext cx="5760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72200" y="74980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74980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77724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Standard Exclude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user has no transaction in 30 days: 11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9844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Top #1 — used across most segments as standard exclusion.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4708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Core Audience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2140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user joined loyalty program: 10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Base audience pool for this BU.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94436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94436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718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CDP vs BQ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1868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CDP: 0 uses  |  BQ: 0 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93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Balance indicates targeting sophistication.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04  SIZE POOL DISTRIBUTION — Audience Size by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notification / increase CTR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0515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2313231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749808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749808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advertising / reactivate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0515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2223538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36776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636776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82496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journey / reactivate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193852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1898670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636776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636776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682496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advertising / increase CTR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193852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1857984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05  PER-PERSON TACTICS — Operating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651760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FA3B1"/>
                </a:solidFill>
              </a:rPr>
              <a:t>PROFILE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AND: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campaigns=17, cond/seg=2.67, reuse=1.42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777240"/>
            <a:ext cx="26517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7B731"/>
                </a:solidFill>
              </a:rPr>
              <a:t>PROFILE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EXCLUDE: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campaigns=18, cond/seg=2.46, reuse=1.38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77240"/>
            <a:ext cx="2651760" cy="64008"/>
          </a:xfrm>
          <a:prstGeom prst="rect">
            <a:avLst/>
          </a:prstGeom>
          <a:solidFill>
            <a:srgbClr val="5E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EA8C5"/>
                </a:solidFill>
              </a:rPr>
              <a:t>PROFILE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OR: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campaigns=18, cond/seg=2.0, reuse=1.29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06  SEGMENT QUALITY ISSUES — Reuse Patterns &amp; Data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7315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No major issues detected by the current V1 quality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07  RECOMMENDATIONS — Actionable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229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74C3C"/>
                </a:solidFill>
                <a:latin typeface="Georgia"/>
              </a:rPr>
              <a:t>R1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950976"/>
            <a:ext cx="50292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950976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85953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Standardize segment naming to improve discoverability.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99616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99616"/>
            <a:ext cx="64008" cy="65836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727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7B731"/>
                </a:solidFill>
                <a:latin typeface="Georgia"/>
              </a:rPr>
              <a:t>R2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700784"/>
            <a:ext cx="502920" cy="237744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700784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1609344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Document core audience logic for team consistency.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C8DC"/>
                </a:solidFill>
              </a:rPr>
              <a:t>Cinema Team — Segment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2560320" cy="36576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12471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2471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This BU ran 20 campaigns using 15 segments.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85623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62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team has 3 operators and an average of 5.07 conditions per segment.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1460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51460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58775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8775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most used condition is user has no transaction in 30 days with 11 uses.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05156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05156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12471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12471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campaign-to-segment reuse ratio is 1.33.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78308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78308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185623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8562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There are 0 zero-condition segments flagged in the current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