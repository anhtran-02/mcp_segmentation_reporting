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389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Campaigns</c:v>
                </c:pt>
              </c:strCache>
            </c:strRef>
          </c:tx>
          <c:spPr>
            <a:solidFill>
              <a:srgbClr val="0FA3B1"/>
            </a:solidFill>
          </c:spPr>
          <c:cat>
            <c:strRef>
              <c:f>Sheet1!$A$2:$A$4</c:f>
              <c:strCache>
                <c:ptCount val="3"/>
                <c:pt idx="0">
                  <c:v>promo</c:v>
                </c:pt>
                <c:pt idx="1">
                  <c:v>journey</c:v>
                </c:pt>
                <c:pt idx="2">
                  <c:v>ads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Usage</c:v>
                </c:pt>
              </c:strCache>
            </c:strRef>
          </c:tx>
          <c:spPr>
            <a:solidFill>
              <a:srgbClr val="0FA3B1"/>
            </a:solidFill>
          </c:spPr>
          <c:cat>
            <c:strRef>
              <c:f>Sheet1!$A$2:$A$5</c:f>
              <c:strCache>
                <c:ptCount val="4"/>
                <c:pt idx="0">
                  <c:v>TELCO BASE</c:v>
                </c:pt>
                <c:pt idx="1">
                  <c:v>user_blacklist_risk</c:v>
                </c:pt>
                <c:pt idx="2">
                  <c:v>user_provider_network</c:v>
                </c:pt>
                <c:pt idx="3">
                  <c:v>user_transaction_bu_group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513892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9015984" cy="4572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0FA3B1"/>
                </a:solidFill>
              </a:rPr>
              <a:t>ANALYTICS REPORT  ·  DATA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8229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200" b="1">
                <a:solidFill>
                  <a:srgbClr val="FFFFFF"/>
                </a:solidFill>
                <a:latin typeface="Georgia"/>
              </a:rPr>
              <a:t>TELCO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9659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A8C8DC"/>
                </a:solidFill>
              </a:rPr>
              <a:t>Segment &amp; Campaign Pattern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606040"/>
            <a:ext cx="2560320" cy="4572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788920"/>
            <a:ext cx="8229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9ABCCC"/>
                </a:solidFill>
              </a:rPr>
              <a:t>Period: </a:t>
            </a:r>
            <a:r>
              <a:rPr sz="1100">
                <a:solidFill>
                  <a:srgbClr val="FFFFFF"/>
                </a:solidFill>
              </a:rPr>
              <a:t>2025-10-01 to 2025-12-01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383280"/>
            <a:ext cx="1993392" cy="1481328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3383280"/>
            <a:ext cx="1993392" cy="6400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3474720"/>
            <a:ext cx="199339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7B731"/>
                </a:solidFill>
                <a:latin typeface="Georg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114800"/>
            <a:ext cx="19933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9ABCCC"/>
                </a:solidFill>
              </a:rPr>
              <a:t>Campaigns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87752" y="3383280"/>
            <a:ext cx="1993392" cy="1481328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87752" y="3383280"/>
            <a:ext cx="1993392" cy="6400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87752" y="3474720"/>
            <a:ext cx="199339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7B731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87752" y="4114800"/>
            <a:ext cx="19933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9ABCCC"/>
                </a:solidFill>
              </a:rPr>
              <a:t>Segments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64024" y="3383280"/>
            <a:ext cx="1993392" cy="1481328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64024" y="3383280"/>
            <a:ext cx="1993392" cy="6400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64024" y="3474720"/>
            <a:ext cx="199339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7B731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4024" y="4114800"/>
            <a:ext cx="19933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9ABCCC"/>
                </a:solidFill>
              </a:rPr>
              <a:t>Operators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0296" y="3383280"/>
            <a:ext cx="1993392" cy="1481328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40296" y="3383280"/>
            <a:ext cx="1993392" cy="6400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0296" y="3474720"/>
            <a:ext cx="199339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7B731"/>
                </a:solidFill>
                <a:latin typeface="Georgia"/>
              </a:rPr>
              <a:t>1.33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6" y="4114800"/>
            <a:ext cx="19933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9ABCCC"/>
                </a:solidFill>
              </a:rPr>
              <a:t>Avg Cond/Seg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3892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22960"/>
            <a:ext cx="42062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73152" cy="896112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457200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D2B3E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914400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D2B3E"/>
                </a:solidFill>
              </a:rPr>
              <a:t>Methodology &amp; Terminology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298448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44444"/>
                </a:solidFill>
              </a:rPr>
              <a:t>Data sources, join logic, dedup, key definitions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74520"/>
            <a:ext cx="42062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874520"/>
            <a:ext cx="73152" cy="896112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74520"/>
            <a:ext cx="457200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D2B3E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1965960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D2B3E"/>
                </a:solidFill>
              </a:rPr>
              <a:t>Team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350008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44444"/>
                </a:solidFill>
              </a:rPr>
              <a:t>3 campaigns, channel breakdown, goal distribution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42062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926080"/>
            <a:ext cx="73152" cy="896112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926080"/>
            <a:ext cx="457200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D2B3E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017520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D2B3E"/>
                </a:solidFill>
              </a:rPr>
              <a:t>Condition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401568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44444"/>
                </a:solidFill>
              </a:rPr>
              <a:t>Top conditions, CDP vs BQ, targeting depth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977640"/>
            <a:ext cx="42062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977640"/>
            <a:ext cx="73152" cy="896112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977640"/>
            <a:ext cx="457200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D2B3E"/>
                </a:solidFill>
                <a:latin typeface="Georgia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069080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D2B3E"/>
                </a:solidFill>
              </a:rPr>
              <a:t>Size Pool Distribution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453128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44444"/>
                </a:solidFill>
              </a:rPr>
              <a:t>Audience size by goal × channel, skewness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822960"/>
            <a:ext cx="42062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46320" y="822960"/>
            <a:ext cx="73152" cy="896112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822960"/>
            <a:ext cx="457200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D2B3E"/>
                </a:solidFill>
                <a:latin typeface="Georgia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8968" y="914400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D2B3E"/>
                </a:solidFill>
              </a:rPr>
              <a:t>Per-Person Tactics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58968" y="1298448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44444"/>
                </a:solidFill>
              </a:rPr>
              <a:t>Operating profiles &amp; complexity labels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1874520"/>
            <a:ext cx="42062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1874520"/>
            <a:ext cx="73152" cy="896112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60" y="1874520"/>
            <a:ext cx="457200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D2B3E"/>
                </a:solidFill>
                <a:latin typeface="Georgia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58968" y="1965960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D2B3E"/>
                </a:solidFill>
              </a:rPr>
              <a:t>Segment Quality Issues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58968" y="2350008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44444"/>
                </a:solidFill>
              </a:rPr>
              <a:t>Zero-condition segments, reuse patterns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46320" y="2926080"/>
            <a:ext cx="42062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846320" y="2926080"/>
            <a:ext cx="73152" cy="896112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60" y="2926080"/>
            <a:ext cx="457200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D2B3E"/>
                </a:solidFill>
                <a:latin typeface="Georgia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58968" y="3017520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D2B3E"/>
                </a:solidFill>
              </a:rPr>
              <a:t>Recommendations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58968" y="3401568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44444"/>
                </a:solidFill>
              </a:rPr>
              <a:t>Actionable improvements with priority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3892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01  METHODOLOGY &amp; TERMINOLOGY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4114800" cy="2743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68096"/>
            <a:ext cx="3931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D2B3E"/>
                </a:solidFill>
              </a:rPr>
              <a:t>DATA METHODOLOGY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4114800" cy="73152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64008" cy="7315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097280"/>
            <a:ext cx="3566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7B731"/>
                </a:solidFill>
              </a:rPr>
              <a:t>Data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1325880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Local CSV export for BU segmentation usage analysis.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56232"/>
            <a:ext cx="4114800" cy="73152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856232"/>
            <a:ext cx="64008" cy="7315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" y="1901952"/>
            <a:ext cx="3566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7B731"/>
                </a:solidFill>
              </a:rPr>
              <a:t>Join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" y="2130552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V1 uses a single prepared CSV; no multi-table join is applied yet.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660904"/>
            <a:ext cx="4114800" cy="73152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660904"/>
            <a:ext cx="64008" cy="7315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2706624"/>
            <a:ext cx="3566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7B731"/>
                </a:solidFill>
              </a:rPr>
              <a:t>Dedup 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" y="2935224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Distinct campaigns, segments, operators, and conditions are computed from the CSV input.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465576"/>
            <a:ext cx="4114800" cy="73152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465576"/>
            <a:ext cx="64008" cy="7315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3511296"/>
            <a:ext cx="3566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7B731"/>
                </a:solidFill>
              </a:rPr>
              <a:t>Condition Label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" y="3739896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condition_name is used directly after trimming blanks.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270248"/>
            <a:ext cx="4114800" cy="73152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270248"/>
            <a:ext cx="64008" cy="7315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4315968"/>
            <a:ext cx="3566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7B731"/>
                </a:solidFill>
              </a:rPr>
              <a:t>Key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" y="4544568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campaigns, segments, operators, avg conditions per segment, top conditions, zero-condition segments, reuse ratio.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7720" y="731520"/>
            <a:ext cx="4251960" cy="2743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768096"/>
            <a:ext cx="4069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D2B3E"/>
                </a:solidFill>
              </a:rPr>
              <a:t>KEY TERMINOLOGY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17720" y="1051560"/>
            <a:ext cx="4251960" cy="45720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60" y="1088136"/>
            <a:ext cx="1280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7B731"/>
                </a:solidFill>
              </a:rPr>
              <a:t>Segment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1289304"/>
            <a:ext cx="4069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a target user group used in one or more campaigns.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7720" y="1581912"/>
            <a:ext cx="4251960" cy="45720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60" y="1618488"/>
            <a:ext cx="1280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7B731"/>
                </a:solidFill>
              </a:rPr>
              <a:t>Condition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160" y="1819656"/>
            <a:ext cx="4069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a filtering rule used to build a segment.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17720" y="2112264"/>
            <a:ext cx="4251960" cy="45720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09160" y="2148840"/>
            <a:ext cx="1280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7B731"/>
                </a:solidFill>
              </a:rPr>
              <a:t>CDP Condition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2350008"/>
            <a:ext cx="4069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a behavioral or profile-based condition.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17720" y="2642616"/>
            <a:ext cx="4251960" cy="45720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09160" y="2679192"/>
            <a:ext cx="1280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7B731"/>
                </a:solidFill>
              </a:rPr>
              <a:t>BQ Condition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60" y="2880360"/>
            <a:ext cx="4069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a static list or table-based audience condition.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7720" y="3172968"/>
            <a:ext cx="4251960" cy="45720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09160" y="3209544"/>
            <a:ext cx="1280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7B731"/>
                </a:solidFill>
              </a:rPr>
              <a:t>Avg Cond/Seg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09160" y="3410712"/>
            <a:ext cx="4069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average number of distinct conditions per segment.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17720" y="3703320"/>
            <a:ext cx="4251960" cy="45720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09160" y="3739896"/>
            <a:ext cx="1280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7B731"/>
                </a:solidFill>
              </a:rPr>
              <a:t>Camp/Seg Ratio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09160" y="3941064"/>
            <a:ext cx="4069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campaigns divided by segments; higher means more reuse.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3892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02  TEAM OVERVIEW — Channel &amp; Goal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1993392" cy="96012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49808"/>
            <a:ext cx="1993392" cy="457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04672"/>
            <a:ext cx="19933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7B731"/>
                </a:solidFill>
                <a:latin typeface="Georgia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316736"/>
            <a:ext cx="19933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9ABCCC"/>
                </a:solidFill>
              </a:rPr>
              <a:t>Campaigns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450592" y="749808"/>
            <a:ext cx="1993392" cy="96012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50592" y="749808"/>
            <a:ext cx="1993392" cy="457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0592" y="804672"/>
            <a:ext cx="19933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7B731"/>
                </a:solidFill>
                <a:latin typeface="Georg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0592" y="1316736"/>
            <a:ext cx="19933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9ABCCC"/>
                </a:solidFill>
              </a:rPr>
              <a:t>Segments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26864" y="749808"/>
            <a:ext cx="1993392" cy="96012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26864" y="749808"/>
            <a:ext cx="1993392" cy="457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804672"/>
            <a:ext cx="19933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7B731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1316736"/>
            <a:ext cx="19933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9ABCCC"/>
                </a:solidFill>
              </a:rPr>
              <a:t>Operators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03136" y="749808"/>
            <a:ext cx="1993392" cy="96012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03136" y="749808"/>
            <a:ext cx="1993392" cy="457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3136" y="804672"/>
            <a:ext cx="19933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7B731"/>
                </a:solidFill>
                <a:latin typeface="Georgia"/>
              </a:rPr>
              <a:t>1.33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03136" y="1316736"/>
            <a:ext cx="19933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9ABCCC"/>
                </a:solidFill>
              </a:rPr>
              <a:t>Avg Cond/Seg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74320" y="1874519"/>
          <a:ext cx="402336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Rectangle 21"/>
          <p:cNvSpPr/>
          <p:nvPr/>
        </p:nvSpPr>
        <p:spPr>
          <a:xfrm>
            <a:off x="4526280" y="1874519"/>
            <a:ext cx="2286000" cy="2743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1911095"/>
            <a:ext cx="22128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Channel / Goal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12280" y="1874519"/>
            <a:ext cx="777240" cy="2743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1911095"/>
            <a:ext cx="70408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Camps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1874519"/>
            <a:ext cx="777240" cy="2743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1911095"/>
            <a:ext cx="70408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Segs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66760" y="1874519"/>
            <a:ext cx="502920" cy="27432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1911095"/>
            <a:ext cx="4297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Ops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26280" y="2148839"/>
            <a:ext cx="2286000" cy="274320"/>
          </a:xfrm>
          <a:prstGeom prst="rect">
            <a:avLst/>
          </a:prstGeom>
          <a:solidFill>
            <a:srgbClr val="163248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2185415"/>
            <a:ext cx="22128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A8C8DC"/>
                </a:solidFill>
              </a:rPr>
              <a:t>acquisition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12280" y="2148839"/>
            <a:ext cx="777240" cy="274320"/>
          </a:xfrm>
          <a:prstGeom prst="rect">
            <a:avLst/>
          </a:prstGeom>
          <a:solidFill>
            <a:srgbClr val="163248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2185415"/>
            <a:ext cx="70408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0" y="2148839"/>
            <a:ext cx="777240" cy="274320"/>
          </a:xfrm>
          <a:prstGeom prst="rect">
            <a:avLst/>
          </a:prstGeom>
          <a:solidFill>
            <a:srgbClr val="163248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5240" y="2185415"/>
            <a:ext cx="70408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8366760" y="2148839"/>
            <a:ext cx="502920" cy="274320"/>
          </a:xfrm>
          <a:prstGeom prst="rect">
            <a:avLst/>
          </a:prstGeom>
          <a:solidFill>
            <a:srgbClr val="163248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2185415"/>
            <a:ext cx="4297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4526280" y="2423159"/>
            <a:ext cx="2286000" cy="274320"/>
          </a:xfrm>
          <a:prstGeom prst="rect">
            <a:avLst/>
          </a:prstGeom>
          <a:solidFill>
            <a:srgbClr val="1A3C56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2459735"/>
            <a:ext cx="22128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A8C8DC"/>
                </a:solidFill>
              </a:rPr>
              <a:t>retention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12280" y="2423159"/>
            <a:ext cx="777240" cy="274320"/>
          </a:xfrm>
          <a:prstGeom prst="rect">
            <a:avLst/>
          </a:prstGeom>
          <a:solidFill>
            <a:srgbClr val="1A3C56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0" y="2459735"/>
            <a:ext cx="70408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89520" y="2423159"/>
            <a:ext cx="777240" cy="274320"/>
          </a:xfrm>
          <a:prstGeom prst="rect">
            <a:avLst/>
          </a:prstGeom>
          <a:solidFill>
            <a:srgbClr val="1A3C56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35240" y="2459735"/>
            <a:ext cx="70408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8366760" y="2423159"/>
            <a:ext cx="502920" cy="274320"/>
          </a:xfrm>
          <a:prstGeom prst="rect">
            <a:avLst/>
          </a:prstGeom>
          <a:solidFill>
            <a:srgbClr val="1A3C56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2459735"/>
            <a:ext cx="4297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6" name="Rectangle 45"/>
          <p:cNvSpPr/>
          <p:nvPr/>
        </p:nvSpPr>
        <p:spPr>
          <a:xfrm>
            <a:off x="4526280" y="2697479"/>
            <a:ext cx="2286000" cy="274320"/>
          </a:xfrm>
          <a:prstGeom prst="rect">
            <a:avLst/>
          </a:prstGeom>
          <a:solidFill>
            <a:srgbClr val="163248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0" y="2734055"/>
            <a:ext cx="22128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A8C8DC"/>
                </a:solidFill>
              </a:rPr>
              <a:t>awareness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12280" y="2697479"/>
            <a:ext cx="777240" cy="274320"/>
          </a:xfrm>
          <a:prstGeom prst="rect">
            <a:avLst/>
          </a:prstGeom>
          <a:solidFill>
            <a:srgbClr val="163248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2734055"/>
            <a:ext cx="70408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89520" y="2697479"/>
            <a:ext cx="777240" cy="274320"/>
          </a:xfrm>
          <a:prstGeom prst="rect">
            <a:avLst/>
          </a:prstGeom>
          <a:solidFill>
            <a:srgbClr val="163248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35240" y="2734055"/>
            <a:ext cx="70408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52" name="Rectangle 51"/>
          <p:cNvSpPr/>
          <p:nvPr/>
        </p:nvSpPr>
        <p:spPr>
          <a:xfrm>
            <a:off x="8366760" y="2697479"/>
            <a:ext cx="502920" cy="274320"/>
          </a:xfrm>
          <a:prstGeom prst="rect">
            <a:avLst/>
          </a:prstGeom>
          <a:solidFill>
            <a:srgbClr val="163248"/>
          </a:solidFill>
          <a:ln w="381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80" y="2734055"/>
            <a:ext cx="42976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3892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03  CONDITION ANALYSIS — What Drives Audience Selection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749808"/>
          <a:ext cx="57607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6172200" y="749808"/>
            <a:ext cx="2697480" cy="987552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2200" y="749808"/>
            <a:ext cx="2697480" cy="256032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777240"/>
            <a:ext cx="2514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Standard Exclude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024128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F7B731"/>
                </a:solidFill>
              </a:rPr>
              <a:t>TELCO BASE: 1 uses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98448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A8C8DC"/>
                </a:solidFill>
              </a:rPr>
              <a:t>Top #1 — used across most segments as standard exclusion.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847088"/>
            <a:ext cx="2697480" cy="987552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847088"/>
            <a:ext cx="2697480" cy="256032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874520"/>
            <a:ext cx="2514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Core Audience Pool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121408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F7B731"/>
                </a:solidFill>
              </a:rPr>
              <a:t>user_blacklist_risk: 1 uses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395728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A8C8DC"/>
                </a:solidFill>
              </a:rPr>
              <a:t>Base audience pool for this BU.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2944368"/>
            <a:ext cx="2697480" cy="987552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944368"/>
            <a:ext cx="2697480" cy="256032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971800"/>
            <a:ext cx="2514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CDP vs BQ Balance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218688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F7B731"/>
                </a:solidFill>
              </a:rPr>
              <a:t>CDP: 3 uses  |  BQ: 1 uses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493008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A8C8DC"/>
                </a:solidFill>
              </a:rPr>
              <a:t>Balance indicates targeting sophistication.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3892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04  SIZE POOL DISTRIBUTION — Audience Size by Goal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4114800" cy="77724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49808"/>
            <a:ext cx="64008" cy="77724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795528"/>
            <a:ext cx="3977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7B731"/>
                </a:solidFill>
              </a:rPr>
              <a:t>promo / acquisition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051560"/>
            <a:ext cx="3977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Median = 2100000 users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749808"/>
            <a:ext cx="4114800" cy="77724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749808"/>
            <a:ext cx="64008" cy="77724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795528"/>
            <a:ext cx="3977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7B731"/>
                </a:solidFill>
              </a:rPr>
              <a:t>ads / awareness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1051560"/>
            <a:ext cx="3977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Median = 1300000 users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636776"/>
            <a:ext cx="4114800" cy="77724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636776"/>
            <a:ext cx="64008" cy="777240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1682496"/>
            <a:ext cx="3977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7B731"/>
                </a:solidFill>
              </a:rPr>
              <a:t>journey / retention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" y="1938528"/>
            <a:ext cx="3977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Median = 560000 users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3892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05  PER-PERSON TACTICS — Operating Profiles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2651760" cy="411480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2651760" cy="6400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86968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FA3B1"/>
                </a:solidFill>
              </a:rPr>
              <a:t>PROFILE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61288"/>
            <a:ext cx="2468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8C8DC"/>
                </a:solidFill>
              </a:rPr>
              <a:t>anh.luu: Low Complexity</a:t>
            </a:r>
          </a:p>
          <a:p>
            <a:r>
              <a:rPr sz="900" b="0">
                <a:solidFill>
                  <a:srgbClr val="A8C8DC"/>
                </a:solidFill>
              </a:rPr>
              <a:t>campaigns=1, cond/seg=2.0, reuse=1.0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777240"/>
            <a:ext cx="2651760" cy="411480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54680" y="777240"/>
            <a:ext cx="2651760" cy="64008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886968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F7B731"/>
                </a:solidFill>
              </a:rPr>
              <a:t>PROFILE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161288"/>
            <a:ext cx="2468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8C8DC"/>
                </a:solidFill>
              </a:rPr>
              <a:t>linh.duong6: Low Complexity</a:t>
            </a:r>
          </a:p>
          <a:p>
            <a:r>
              <a:rPr sz="900" b="0">
                <a:solidFill>
                  <a:srgbClr val="A8C8DC"/>
                </a:solidFill>
              </a:rPr>
              <a:t>campaigns=1, cond/seg=1.0, reuse=1.0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777240"/>
            <a:ext cx="2651760" cy="411480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777240"/>
            <a:ext cx="2651760" cy="64008"/>
          </a:xfrm>
          <a:prstGeom prst="rect">
            <a:avLst/>
          </a:prstGeom>
          <a:solidFill>
            <a:srgbClr val="5EA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886968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5EA8C5"/>
                </a:solidFill>
              </a:rPr>
              <a:t>PROFILE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161288"/>
            <a:ext cx="2468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8C8DC"/>
                </a:solidFill>
              </a:rPr>
              <a:t>phuc.nguyen20: Low Complexity</a:t>
            </a:r>
          </a:p>
          <a:p>
            <a:r>
              <a:rPr sz="900" b="0">
                <a:solidFill>
                  <a:srgbClr val="A8C8DC"/>
                </a:solidFill>
              </a:rPr>
              <a:t>campaigns=1, cond/seg=1.0, reuse=1.0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3892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06  SEGMENT QUALITY ISSUES — Reuse Patterns &amp; Data Gaps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4114800" cy="73152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49808"/>
            <a:ext cx="64008" cy="73152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795528"/>
            <a:ext cx="3977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7B731"/>
                </a:solidFill>
              </a:rPr>
              <a:t>Segment reuse is low (campaigns/segments =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042416"/>
            <a:ext cx="3977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0).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749808"/>
            <a:ext cx="4114800" cy="731520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749808"/>
            <a:ext cx="64008" cy="73152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795528"/>
            <a:ext cx="3977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7B731"/>
                </a:solidFill>
              </a:rPr>
              <a:t>Average conditions per segment is low (1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1042416"/>
            <a:ext cx="3977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A8C8DC"/>
                </a:solidFill>
              </a:rPr>
              <a:t>33); targeting may be too broad.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3892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07  RECOMMENDATIONS — Actionable Improvements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8595360" cy="658368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49808"/>
            <a:ext cx="64008" cy="6583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82296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74C3C"/>
                </a:solidFill>
                <a:latin typeface="Georgia"/>
              </a:rPr>
              <a:t>R1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950976"/>
            <a:ext cx="502920" cy="23774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950976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859536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8C8DC"/>
                </a:solidFill>
              </a:rPr>
              <a:t>Improve segment reuse by checking existing segments before creating new ones.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99616"/>
            <a:ext cx="8595360" cy="658368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499616"/>
            <a:ext cx="64008" cy="658368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57276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7B731"/>
                </a:solidFill>
                <a:latin typeface="Georgia"/>
              </a:rPr>
              <a:t>R2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1700784"/>
            <a:ext cx="502920" cy="237744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1700784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1609344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8C8DC"/>
                </a:solidFill>
              </a:rPr>
              <a:t>Increase targeting depth by adding more behavioral conditions.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249424"/>
            <a:ext cx="8595360" cy="658368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249424"/>
            <a:ext cx="64008" cy="65836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2322576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A3B1"/>
                </a:solidFill>
                <a:latin typeface="Georgia"/>
              </a:rPr>
              <a:t>R3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2450592"/>
            <a:ext cx="502920" cy="237744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2450592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36192" y="2359152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8C8DC"/>
                </a:solidFill>
              </a:rPr>
              <a:t>Standardize segment naming to improve discoverability.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999232"/>
            <a:ext cx="8595360" cy="658368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2999232"/>
            <a:ext cx="64008" cy="65836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3072384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A3B1"/>
                </a:solidFill>
                <a:latin typeface="Georgia"/>
              </a:rPr>
              <a:t>R4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3200400"/>
            <a:ext cx="502920" cy="237744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3200400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36192" y="310896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8C8DC"/>
                </a:solidFill>
              </a:rPr>
              <a:t>Document core audience logic for team consistency.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513892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94360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A8C8DC"/>
                </a:solidFill>
              </a:rPr>
              <a:t>TELCO Team — Segment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32688"/>
            <a:ext cx="2560320" cy="36576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51560"/>
            <a:ext cx="4023360" cy="658368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51560"/>
            <a:ext cx="64008" cy="65836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124712"/>
            <a:ext cx="3657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7B731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124712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8C8DC"/>
                </a:solidFill>
              </a:rPr>
              <a:t>This BU ran 3 campaigns using 3 segments.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83080"/>
            <a:ext cx="4023360" cy="658368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83080"/>
            <a:ext cx="64008" cy="65836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1856232"/>
            <a:ext cx="3657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7B731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856232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8C8DC"/>
                </a:solidFill>
              </a:rPr>
              <a:t>The team has 3 operators and an average of 1.33 conditions per segment.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514600"/>
            <a:ext cx="4023360" cy="658368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514600"/>
            <a:ext cx="64008" cy="65836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2587752"/>
            <a:ext cx="3657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7B731"/>
                </a:solidFill>
                <a:latin typeface="Georg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587752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8C8DC"/>
                </a:solidFill>
              </a:rPr>
              <a:t>The most used condition is TELCO BASE with 1 uses.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1051560"/>
            <a:ext cx="4023360" cy="658368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0" y="1051560"/>
            <a:ext cx="64008" cy="65836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4608" y="1124712"/>
            <a:ext cx="3657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7B731"/>
                </a:solidFill>
                <a:latin typeface="Georgia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1124712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8C8DC"/>
                </a:solidFill>
              </a:rPr>
              <a:t>The campaign-to-segment reuse ratio is 1.0.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1783080"/>
            <a:ext cx="4023360" cy="658368"/>
          </a:xfrm>
          <a:prstGeom prst="rect">
            <a:avLst/>
          </a:prstGeom>
          <a:solidFill>
            <a:srgbClr val="163248"/>
          </a:solidFill>
          <a:ln w="6350">
            <a:solidFill>
              <a:srgbClr val="2E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0" y="1783080"/>
            <a:ext cx="64008" cy="658368"/>
          </a:xfrm>
          <a:prstGeom prst="rect">
            <a:avLst/>
          </a:prstGeom>
          <a:solidFill>
            <a:srgbClr val="0F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4608" y="1856232"/>
            <a:ext cx="3657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7B731"/>
                </a:solidFill>
                <a:latin typeface="Georgia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1856232"/>
            <a:ext cx="3383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8C8DC"/>
                </a:solidFill>
              </a:rPr>
              <a:t>There are 0 zero-condition segments flagged in the current checks.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