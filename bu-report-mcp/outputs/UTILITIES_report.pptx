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Campaigns</c:v>
                </c:pt>
              </c:strCache>
            </c:strRef>
          </c:tx>
          <c:spPr>
            <a:solidFill>
              <a:srgbClr val="0FA3B1"/>
            </a:solidFill>
          </c:spPr>
          <c:cat>
            <c:strRef>
              <c:f>Sheet1!$A$2:$A$4</c:f>
              <c:strCache>
                <c:ptCount val="3"/>
                <c:pt idx="0">
                  <c:v>promo</c:v>
                </c:pt>
                <c:pt idx="1">
                  <c:v>journey</c:v>
                </c:pt>
                <c:pt idx="2">
                  <c:v>noti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spPr>
            <a:solidFill>
              <a:srgbClr val="0FA3B1"/>
            </a:solidFill>
          </c:spPr>
          <c:cat>
            <c:strRef>
              <c:f>Sheet1!$A$2:$A$4</c:f>
              <c:strCache>
                <c:ptCount val="3"/>
                <c:pt idx="0">
                  <c:v>VTTI GROUP</c:v>
                </c:pt>
                <c:pt idx="1">
                  <c:v>user_active_in_range</c:v>
                </c:pt>
                <c:pt idx="2">
                  <c:v>user_blacklist_risk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9015984" cy="457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FA3B1"/>
                </a:solidFill>
              </a:rPr>
              <a:t>ANALYTICS REPORT  ·  DATA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8229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Georgia"/>
              </a:rPr>
              <a:t>UTILITIES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659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A8C8DC"/>
                </a:solidFill>
              </a:rPr>
              <a:t>Segment &amp; Campaign Pattern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606040"/>
            <a:ext cx="2560320" cy="457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BCCC"/>
                </a:solidFill>
              </a:rPr>
              <a:t>Period: </a:t>
            </a:r>
            <a:r>
              <a:rPr sz="1100">
                <a:solidFill>
                  <a:srgbClr val="FFFFFF"/>
                </a:solidFill>
              </a:rPr>
              <a:t>2025-10-01 to 2025-12-01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Campaigns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87752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7752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Segments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64024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64024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4024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Operators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0296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0296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0296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6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Avg Cond/Seg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91440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Methodology &amp; Terminology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Data sources, join logic, dedup, key definitions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2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87452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7452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6596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Team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35000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3 campaigns, channel breakdown, goal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92608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01752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Condition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0156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Top conditions, CDP vs BQ, targeting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7764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7764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7764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06908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Size Pool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45312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Audience size by goal × channel, skewness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82296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6320" y="82296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82296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91440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Per-Person Tactics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8" y="129844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Operating profiles &amp; complexity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187452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187452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187452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196596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Segment Quality Issues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235000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Zero-condition segments, reuse patterns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92608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46320" y="292608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292608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301752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Recommendations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8968" y="340156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Actionable improvements with priority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01  METHODOLOGY &amp; TERMINOLOGY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411480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68096"/>
            <a:ext cx="3931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2B3E"/>
                </a:solidFill>
              </a:rPr>
              <a:t>DATA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097280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32588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Local CSV export for BU segmentation usage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56232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856232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901952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Join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13055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V1 uses a single prepared CSV; no multi-table join is applied yet.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60904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60904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706624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Dedup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293522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Distinct campaigns, segments, operators, and conditions are computed from the CSV input.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65576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465576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3511296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Condition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373989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condition_name is used directly after trimming blanks.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70248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270248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4315968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Key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454456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campaigns, segments, operators, avg conditions per segment, top conditions, zero-condition segments, reuse ratio.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731520"/>
            <a:ext cx="425196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768096"/>
            <a:ext cx="4069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2B3E"/>
                </a:solidFill>
              </a:rPr>
              <a:t>KEY TERMINOLOGY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1051560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1088136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Segment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289304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target user group used in one or more campaigns.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581912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1618488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Condition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1819656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filtering rule used to build a segment.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112264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2148840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CDP Condition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2350008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behavioral or profile-based condition.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2642616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2679192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BQ Condition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2880360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static list or table-based audience condition.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3172968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3209544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Avg Cond/Seg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3410712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average number of distinct conditions per segment.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3703320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3739896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Camp/Seg Ratio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3941064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campaigns divided by segments; higher means more reuse.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02  TEAM OVERVIEW — Channel &amp; Goal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Campaigns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50592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Segments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26864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Operators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3136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03136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Avg Cond/Seg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74320" y="1874519"/>
          <a:ext cx="40233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ectangle 21"/>
          <p:cNvSpPr/>
          <p:nvPr/>
        </p:nvSpPr>
        <p:spPr>
          <a:xfrm>
            <a:off x="4526280" y="1874519"/>
            <a:ext cx="228600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91109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Channel / Goal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1874519"/>
            <a:ext cx="77724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91109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Camps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874519"/>
            <a:ext cx="77724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91109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Segs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1874519"/>
            <a:ext cx="50292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91109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2148839"/>
            <a:ext cx="228600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18541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budget_coin_reward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214883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18541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14883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218541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2148839"/>
            <a:ext cx="50292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218541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2423159"/>
            <a:ext cx="228600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245973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CONSIDERATION_CONV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2423159"/>
            <a:ext cx="77724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245973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2423159"/>
            <a:ext cx="77724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245973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2423159"/>
            <a:ext cx="50292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45973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2697479"/>
            <a:ext cx="228600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273405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SURVEY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12280" y="269747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273405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269747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40" y="273405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2697479"/>
            <a:ext cx="50292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273405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03  CONDITION ANALYSIS — What Drives Audience Selection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749808"/>
          <a:ext cx="57607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172200" y="749808"/>
            <a:ext cx="2697480" cy="987552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749808"/>
            <a:ext cx="2697480" cy="25603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77724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Standard Exclude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2412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F7B731"/>
                </a:solidFill>
              </a:rPr>
              <a:t>VTTI GROUP: 1 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9844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8C8DC"/>
                </a:solidFill>
              </a:rPr>
              <a:t>Top #1 — used across most segments as standard exclusion.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47088"/>
            <a:ext cx="2697480" cy="987552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47088"/>
            <a:ext cx="2697480" cy="25603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2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Core Audience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2140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F7B731"/>
                </a:solidFill>
              </a:rPr>
              <a:t>user_active_in_range: 1 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9572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8C8DC"/>
                </a:solidFill>
              </a:rPr>
              <a:t>Base audience pool for this BU.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944368"/>
            <a:ext cx="2697480" cy="987552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944368"/>
            <a:ext cx="2697480" cy="25603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7180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CDP vs BQ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1868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F7B731"/>
                </a:solidFill>
              </a:rPr>
              <a:t>CDP: 2 uses  |  BQ: 2 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93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8C8DC"/>
                </a:solidFill>
              </a:rPr>
              <a:t>Balance indicates targeting sophistication.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04  SIZE POOL DISTRIBUTION — Audience Size by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4114800" cy="77724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64008" cy="7772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promo / budget_coin_reward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05156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Median = 8800000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749808"/>
            <a:ext cx="4114800" cy="77724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749808"/>
            <a:ext cx="64008" cy="7772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journey / CONSIDERATION_CONV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05156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Median = 4800000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36776"/>
            <a:ext cx="4114800" cy="77724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636776"/>
            <a:ext cx="64008" cy="7772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82496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noti /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1938528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Median = 251000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05  PER-PERSON TACTICS — Operating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2651760" cy="41148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2651760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8696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FA3B1"/>
                </a:solidFill>
              </a:rPr>
              <a:t>PROFILE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61288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hieu.le11: Low Complexity</a:t>
            </a:r>
          </a:p>
          <a:p>
            <a:r>
              <a:rPr sz="900" b="0">
                <a:solidFill>
                  <a:srgbClr val="A8C8DC"/>
                </a:solidFill>
              </a:rPr>
              <a:t>campaigns=1, cond/seg=1.0, reuse=1.0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777240"/>
            <a:ext cx="2651760" cy="41148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777240"/>
            <a:ext cx="265176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88696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F7B731"/>
                </a:solidFill>
              </a:rPr>
              <a:t>PROFILE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161288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thuy.nguyen19: Low Complexity</a:t>
            </a:r>
          </a:p>
          <a:p>
            <a:r>
              <a:rPr sz="900" b="0">
                <a:solidFill>
                  <a:srgbClr val="A8C8DC"/>
                </a:solidFill>
              </a:rPr>
              <a:t>campaigns=1, cond/seg=2.0, reuse=1.0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777240"/>
            <a:ext cx="2651760" cy="41148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777240"/>
            <a:ext cx="2651760" cy="64008"/>
          </a:xfrm>
          <a:prstGeom prst="rect">
            <a:avLst/>
          </a:prstGeom>
          <a:solidFill>
            <a:srgbClr val="5EA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88696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EA8C5"/>
                </a:solidFill>
              </a:rPr>
              <a:t>PROFILE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161288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van.vo2: Low Complexity</a:t>
            </a:r>
          </a:p>
          <a:p>
            <a:r>
              <a:rPr sz="900" b="0">
                <a:solidFill>
                  <a:srgbClr val="A8C8DC"/>
                </a:solidFill>
              </a:rPr>
              <a:t>campaigns=1, cond/seg=nan, reuse=1.0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06  SEGMENT QUALITY ISSUES — Reuse Patterns &amp; Data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64008" cy="7315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Found 1 zero-condition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749808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749808"/>
            <a:ext cx="64008" cy="7315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Segment reuse is low (campaigns/segments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042416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91056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591056"/>
            <a:ext cx="64008" cy="7315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636776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Average conditions per segment is low (1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1883664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5); targeting may be too broad.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07  RECOMMENDATIONS — Actionable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64008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2296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74C3C"/>
                </a:solidFill>
                <a:latin typeface="Georgia"/>
              </a:rPr>
              <a:t>R1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950976"/>
            <a:ext cx="50292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950976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859536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Fix zero-condition segments by requiring at least one inclusion condition.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99616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99616"/>
            <a:ext cx="64008" cy="65836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5727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7B731"/>
                </a:solidFill>
                <a:latin typeface="Georgia"/>
              </a:rPr>
              <a:t>R2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1700784"/>
            <a:ext cx="502920" cy="237744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700784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1609344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Improve segment reuse by checking existing segments before creating new 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49424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249424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322576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A3B1"/>
                </a:solidFill>
                <a:latin typeface="Georgia"/>
              </a:rPr>
              <a:t>R3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450592"/>
            <a:ext cx="502920" cy="237744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450592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2359152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Increase targeting depth by adding more behavioral conditions.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99232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999232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072384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A3B1"/>
                </a:solidFill>
                <a:latin typeface="Georgia"/>
              </a:rPr>
              <a:t>R4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3200400"/>
            <a:ext cx="502920" cy="237744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200400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10896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Standardize segment naming to improve discoverability.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49040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74904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822192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A3B1"/>
                </a:solidFill>
                <a:latin typeface="Georgia"/>
              </a:rPr>
              <a:t>R5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3950208"/>
            <a:ext cx="502920" cy="237744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95020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6192" y="385876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Document core audience logic for team consistency.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436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C8DC"/>
                </a:solidFill>
              </a:rPr>
              <a:t>UTILITIES Team — Segment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32688"/>
            <a:ext cx="2560320" cy="36576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12471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12471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This BU ran 3 campaigns using 3 segments.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85623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5623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 team has 3 operators and an average of 1.5 conditions per segment.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1460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51460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58775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58775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 most used condition is VTTI GROUP with 1 uses.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05156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105156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112471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12471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 campaign-to-segment reuse ratio is 1.0.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78308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178308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185623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185623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There are 1 zero-condition segments flagged in the current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